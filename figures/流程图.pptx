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3FF"/>
    <a:srgbClr val="C189F7"/>
    <a:srgbClr val="FF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1222" autoAdjust="0"/>
  </p:normalViewPr>
  <p:slideViewPr>
    <p:cSldViewPr snapToGrid="0">
      <p:cViewPr varScale="1">
        <p:scale>
          <a:sx n="40" d="100"/>
          <a:sy n="40" d="100"/>
        </p:scale>
        <p:origin x="21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12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1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92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2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04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21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55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8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97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40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A7536-2248-4FA8-9D99-258E87A102D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F3799-63DA-4E9E-B3F6-A70F424355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14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>
            <a:extLst>
              <a:ext uri="{FF2B5EF4-FFF2-40B4-BE49-F238E27FC236}">
                <a16:creationId xmlns:a16="http://schemas.microsoft.com/office/drawing/2014/main" id="{0307DBB3-1D40-F131-E4BE-4A1F225391B6}"/>
              </a:ext>
            </a:extLst>
          </p:cNvPr>
          <p:cNvSpPr/>
          <p:nvPr/>
        </p:nvSpPr>
        <p:spPr>
          <a:xfrm>
            <a:off x="2155643" y="1491773"/>
            <a:ext cx="3150177" cy="396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矩形: 圆角 187">
            <a:extLst>
              <a:ext uri="{FF2B5EF4-FFF2-40B4-BE49-F238E27FC236}">
                <a16:creationId xmlns:a16="http://schemas.microsoft.com/office/drawing/2014/main" id="{D2BC9AA0-44E5-071D-14BE-DB30B10E9F69}"/>
              </a:ext>
            </a:extLst>
          </p:cNvPr>
          <p:cNvSpPr/>
          <p:nvPr/>
        </p:nvSpPr>
        <p:spPr>
          <a:xfrm>
            <a:off x="1544231" y="1272162"/>
            <a:ext cx="4467225" cy="3003262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E7F0059B-CF2A-BF64-5FE9-9B98373C0002}"/>
              </a:ext>
            </a:extLst>
          </p:cNvPr>
          <p:cNvSpPr/>
          <p:nvPr/>
        </p:nvSpPr>
        <p:spPr>
          <a:xfrm>
            <a:off x="1679394" y="2278720"/>
            <a:ext cx="1369788" cy="9043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Motivation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B3E2AD4-587E-776F-6246-16F55787DAAD}"/>
              </a:ext>
            </a:extLst>
          </p:cNvPr>
          <p:cNvSpPr/>
          <p:nvPr/>
        </p:nvSpPr>
        <p:spPr>
          <a:xfrm>
            <a:off x="3092949" y="2278720"/>
            <a:ext cx="1369788" cy="9043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Restatement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916620A-B1A9-48BF-01B8-1FC0E512AEF5}"/>
              </a:ext>
            </a:extLst>
          </p:cNvPr>
          <p:cNvSpPr/>
          <p:nvPr/>
        </p:nvSpPr>
        <p:spPr>
          <a:xfrm>
            <a:off x="4506504" y="2278720"/>
            <a:ext cx="1369788" cy="9043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124C1688-7FFA-24A7-4837-BA217BC9C06A}"/>
              </a:ext>
            </a:extLst>
          </p:cNvPr>
          <p:cNvSpPr/>
          <p:nvPr/>
        </p:nvSpPr>
        <p:spPr>
          <a:xfrm>
            <a:off x="2202754" y="3381351"/>
            <a:ext cx="3150177" cy="738785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are we actually trying to solve?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D82BC60-FCFD-6008-784C-E81F649AFCDC}"/>
              </a:ext>
            </a:extLst>
          </p:cNvPr>
          <p:cNvSpPr/>
          <p:nvPr/>
        </p:nvSpPr>
        <p:spPr>
          <a:xfrm>
            <a:off x="2155643" y="5222791"/>
            <a:ext cx="3150177" cy="78694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Modeling Framework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081CDDED-AB76-C8D8-4825-09C14B7D00E5}"/>
              </a:ext>
            </a:extLst>
          </p:cNvPr>
          <p:cNvSpPr/>
          <p:nvPr/>
        </p:nvSpPr>
        <p:spPr>
          <a:xfrm>
            <a:off x="1544231" y="5102326"/>
            <a:ext cx="4467225" cy="5201272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07D3B525-2251-6C87-5414-7C1F505A5518}"/>
              </a:ext>
            </a:extLst>
          </p:cNvPr>
          <p:cNvSpPr/>
          <p:nvPr/>
        </p:nvSpPr>
        <p:spPr>
          <a:xfrm>
            <a:off x="1679394" y="6216093"/>
            <a:ext cx="4084412" cy="59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Sub-model I: Sun-shading geometry and anisotropic radiation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A59212E4-D447-FB0C-0398-FD02B6AA6A34}"/>
              </a:ext>
            </a:extLst>
          </p:cNvPr>
          <p:cNvSpPr/>
          <p:nvPr/>
        </p:nvSpPr>
        <p:spPr>
          <a:xfrm>
            <a:off x="1679394" y="7219578"/>
            <a:ext cx="4084412" cy="59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Sub-model II: Transient Thermal Response (3R2C / Thermal Battery)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1297F4BE-F2C9-DCB4-8149-04857CD68361}"/>
              </a:ext>
            </a:extLst>
          </p:cNvPr>
          <p:cNvSpPr/>
          <p:nvPr/>
        </p:nvSpPr>
        <p:spPr>
          <a:xfrm>
            <a:off x="1735636" y="8223063"/>
            <a:ext cx="4084412" cy="5991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Sub-model III: Dynamic Control (Kinetic Façade + MPC)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箭头: 下 205">
            <a:extLst>
              <a:ext uri="{FF2B5EF4-FFF2-40B4-BE49-F238E27FC236}">
                <a16:creationId xmlns:a16="http://schemas.microsoft.com/office/drawing/2014/main" id="{CAD08935-C0D9-9E0C-CE7C-D275F2AB5C6D}"/>
              </a:ext>
            </a:extLst>
          </p:cNvPr>
          <p:cNvSpPr/>
          <p:nvPr/>
        </p:nvSpPr>
        <p:spPr>
          <a:xfrm>
            <a:off x="3573056" y="6910961"/>
            <a:ext cx="285750" cy="21254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箭头: 下 206">
            <a:extLst>
              <a:ext uri="{FF2B5EF4-FFF2-40B4-BE49-F238E27FC236}">
                <a16:creationId xmlns:a16="http://schemas.microsoft.com/office/drawing/2014/main" id="{A3D09613-3489-F904-56DE-0BD22B5710EA}"/>
              </a:ext>
            </a:extLst>
          </p:cNvPr>
          <p:cNvSpPr/>
          <p:nvPr/>
        </p:nvSpPr>
        <p:spPr>
          <a:xfrm>
            <a:off x="3563531" y="7944477"/>
            <a:ext cx="285750" cy="21254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箭头: 下 207">
            <a:extLst>
              <a:ext uri="{FF2B5EF4-FFF2-40B4-BE49-F238E27FC236}">
                <a16:creationId xmlns:a16="http://schemas.microsoft.com/office/drawing/2014/main" id="{231BC6AF-9BC0-6E7B-A651-1426F95E3999}"/>
              </a:ext>
            </a:extLst>
          </p:cNvPr>
          <p:cNvSpPr/>
          <p:nvPr/>
        </p:nvSpPr>
        <p:spPr>
          <a:xfrm>
            <a:off x="3563531" y="8888250"/>
            <a:ext cx="285750" cy="212544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752743FE-2E01-1674-7440-7F9781916884}"/>
              </a:ext>
            </a:extLst>
          </p:cNvPr>
          <p:cNvSpPr/>
          <p:nvPr/>
        </p:nvSpPr>
        <p:spPr>
          <a:xfrm>
            <a:off x="2155643" y="9283385"/>
            <a:ext cx="3150177" cy="73145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models do we use to solve these problems?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177324AA-AB15-9CB5-A287-DE99F5DE0672}"/>
              </a:ext>
            </a:extLst>
          </p:cNvPr>
          <p:cNvSpPr/>
          <p:nvPr/>
        </p:nvSpPr>
        <p:spPr>
          <a:xfrm>
            <a:off x="7950605" y="1269150"/>
            <a:ext cx="6769556" cy="49902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 Application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9CE90273-4D9F-D830-E2D6-2E4A0C5BA974}"/>
              </a:ext>
            </a:extLst>
          </p:cNvPr>
          <p:cNvSpPr/>
          <p:nvPr/>
        </p:nvSpPr>
        <p:spPr>
          <a:xfrm>
            <a:off x="6527928" y="1167565"/>
            <a:ext cx="9959750" cy="4844761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EBCD7CDF-DCDA-9F97-8F45-C829BB69358A}"/>
              </a:ext>
            </a:extLst>
          </p:cNvPr>
          <p:cNvSpPr/>
          <p:nvPr/>
        </p:nvSpPr>
        <p:spPr>
          <a:xfrm>
            <a:off x="6695038" y="2261643"/>
            <a:ext cx="730188" cy="365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F702438D-710A-AA97-09DB-804C705220F9}"/>
              </a:ext>
            </a:extLst>
          </p:cNvPr>
          <p:cNvSpPr/>
          <p:nvPr/>
        </p:nvSpPr>
        <p:spPr>
          <a:xfrm>
            <a:off x="9504916" y="2608051"/>
            <a:ext cx="1405168" cy="2654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shading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A4EA2CD4-F04F-32CF-14F2-8B3C2E0C9595}"/>
              </a:ext>
            </a:extLst>
          </p:cNvPr>
          <p:cNvSpPr/>
          <p:nvPr/>
        </p:nvSpPr>
        <p:spPr>
          <a:xfrm>
            <a:off x="7714891" y="2070811"/>
            <a:ext cx="1320185" cy="746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Warm zone renovation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B6AAFC85-A2D5-2385-61EE-B56A5E6A06DE}"/>
              </a:ext>
            </a:extLst>
          </p:cNvPr>
          <p:cNvSpPr/>
          <p:nvPr/>
        </p:nvSpPr>
        <p:spPr>
          <a:xfrm>
            <a:off x="8228116" y="5147860"/>
            <a:ext cx="6214535" cy="555849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model effective under different scenarios?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E2352C43-2867-85EE-E166-C5EDA22414FA}"/>
              </a:ext>
            </a:extLst>
          </p:cNvPr>
          <p:cNvSpPr/>
          <p:nvPr/>
        </p:nvSpPr>
        <p:spPr>
          <a:xfrm>
            <a:off x="9504916" y="1997744"/>
            <a:ext cx="1405168" cy="2912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Cooling load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加号 216">
            <a:extLst>
              <a:ext uri="{FF2B5EF4-FFF2-40B4-BE49-F238E27FC236}">
                <a16:creationId xmlns:a16="http://schemas.microsoft.com/office/drawing/2014/main" id="{38D6EB13-3413-5C8C-C233-73B4A38B4B9C}"/>
              </a:ext>
            </a:extLst>
          </p:cNvPr>
          <p:cNvSpPr/>
          <p:nvPr/>
        </p:nvSpPr>
        <p:spPr>
          <a:xfrm>
            <a:off x="10083537" y="2318415"/>
            <a:ext cx="356877" cy="283505"/>
          </a:xfrm>
          <a:prstGeom prst="mathPlu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箭头: V 形 217">
            <a:extLst>
              <a:ext uri="{FF2B5EF4-FFF2-40B4-BE49-F238E27FC236}">
                <a16:creationId xmlns:a16="http://schemas.microsoft.com/office/drawing/2014/main" id="{BD72FEAA-6514-3126-BB48-05E45ABD704F}"/>
              </a:ext>
            </a:extLst>
          </p:cNvPr>
          <p:cNvSpPr/>
          <p:nvPr/>
        </p:nvSpPr>
        <p:spPr>
          <a:xfrm>
            <a:off x="9155611" y="2261643"/>
            <a:ext cx="228600" cy="36923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F0204703-EF59-E3C1-A019-CEF6A25E4D7A}"/>
              </a:ext>
            </a:extLst>
          </p:cNvPr>
          <p:cNvSpPr/>
          <p:nvPr/>
        </p:nvSpPr>
        <p:spPr>
          <a:xfrm>
            <a:off x="6695038" y="3835495"/>
            <a:ext cx="730188" cy="3652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B95820F3-8B6B-1CC2-E397-A528D5D45DAE}"/>
              </a:ext>
            </a:extLst>
          </p:cNvPr>
          <p:cNvSpPr/>
          <p:nvPr/>
        </p:nvSpPr>
        <p:spPr>
          <a:xfrm>
            <a:off x="9504916" y="4158601"/>
            <a:ext cx="1405168" cy="4411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Survival resilience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C6811541-5C6E-D2FD-C662-836023827CDD}"/>
              </a:ext>
            </a:extLst>
          </p:cNvPr>
          <p:cNvSpPr/>
          <p:nvPr/>
        </p:nvSpPr>
        <p:spPr>
          <a:xfrm>
            <a:off x="7714891" y="3644663"/>
            <a:ext cx="1320185" cy="7469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 region expansion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6806105C-1298-FE29-24AA-9569B45497B2}"/>
              </a:ext>
            </a:extLst>
          </p:cNvPr>
          <p:cNvSpPr/>
          <p:nvPr/>
        </p:nvSpPr>
        <p:spPr>
          <a:xfrm>
            <a:off x="9504916" y="3500640"/>
            <a:ext cx="1405168" cy="2912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mass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加号 222">
            <a:extLst>
              <a:ext uri="{FF2B5EF4-FFF2-40B4-BE49-F238E27FC236}">
                <a16:creationId xmlns:a16="http://schemas.microsoft.com/office/drawing/2014/main" id="{FDC63C7A-431F-2EF7-231B-8639207C17AC}"/>
              </a:ext>
            </a:extLst>
          </p:cNvPr>
          <p:cNvSpPr/>
          <p:nvPr/>
        </p:nvSpPr>
        <p:spPr>
          <a:xfrm>
            <a:off x="10083537" y="3821311"/>
            <a:ext cx="356877" cy="283505"/>
          </a:xfrm>
          <a:prstGeom prst="mathPlu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箭头: V 形 223">
            <a:extLst>
              <a:ext uri="{FF2B5EF4-FFF2-40B4-BE49-F238E27FC236}">
                <a16:creationId xmlns:a16="http://schemas.microsoft.com/office/drawing/2014/main" id="{7C0A4A05-5EB0-E7DD-9F76-20CC09BA152E}"/>
              </a:ext>
            </a:extLst>
          </p:cNvPr>
          <p:cNvSpPr/>
          <p:nvPr/>
        </p:nvSpPr>
        <p:spPr>
          <a:xfrm>
            <a:off x="9155611" y="3835495"/>
            <a:ext cx="228600" cy="369230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B9D4C69-C1B7-7A94-C939-A052D6D57ED5}"/>
              </a:ext>
            </a:extLst>
          </p:cNvPr>
          <p:cNvSpPr/>
          <p:nvPr/>
        </p:nvSpPr>
        <p:spPr>
          <a:xfrm>
            <a:off x="11504405" y="2274091"/>
            <a:ext cx="730188" cy="365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649FD98C-27A4-C8ED-3F78-76AC2A7C24AE}"/>
              </a:ext>
            </a:extLst>
          </p:cNvPr>
          <p:cNvSpPr/>
          <p:nvPr/>
        </p:nvSpPr>
        <p:spPr>
          <a:xfrm>
            <a:off x="14314283" y="2597197"/>
            <a:ext cx="1405168" cy="4411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occupancy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39E88899-CC59-96B7-D3D2-D19C63F7AE46}"/>
              </a:ext>
            </a:extLst>
          </p:cNvPr>
          <p:cNvSpPr/>
          <p:nvPr/>
        </p:nvSpPr>
        <p:spPr>
          <a:xfrm>
            <a:off x="12524258" y="2083259"/>
            <a:ext cx="1320185" cy="746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center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5F73939F-78C7-EF6B-6B82-E1DD9F5F257D}"/>
              </a:ext>
            </a:extLst>
          </p:cNvPr>
          <p:cNvSpPr/>
          <p:nvPr/>
        </p:nvSpPr>
        <p:spPr>
          <a:xfrm>
            <a:off x="14314283" y="1797592"/>
            <a:ext cx="1405168" cy="4328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control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加号 228">
            <a:extLst>
              <a:ext uri="{FF2B5EF4-FFF2-40B4-BE49-F238E27FC236}">
                <a16:creationId xmlns:a16="http://schemas.microsoft.com/office/drawing/2014/main" id="{167DB5CA-B1F0-4AAA-60E6-9FA959286A12}"/>
              </a:ext>
            </a:extLst>
          </p:cNvPr>
          <p:cNvSpPr/>
          <p:nvPr/>
        </p:nvSpPr>
        <p:spPr>
          <a:xfrm>
            <a:off x="14892904" y="2259907"/>
            <a:ext cx="356877" cy="283505"/>
          </a:xfrm>
          <a:prstGeom prst="mathPlu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箭头: V 形 229">
            <a:extLst>
              <a:ext uri="{FF2B5EF4-FFF2-40B4-BE49-F238E27FC236}">
                <a16:creationId xmlns:a16="http://schemas.microsoft.com/office/drawing/2014/main" id="{3E718A19-C2BB-DD66-6AA2-C56611318340}"/>
              </a:ext>
            </a:extLst>
          </p:cNvPr>
          <p:cNvSpPr/>
          <p:nvPr/>
        </p:nvSpPr>
        <p:spPr>
          <a:xfrm>
            <a:off x="13964978" y="2274091"/>
            <a:ext cx="228600" cy="36923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FEB90C2C-0B7F-C32F-95C8-6A6DA8D4B8A0}"/>
              </a:ext>
            </a:extLst>
          </p:cNvPr>
          <p:cNvSpPr/>
          <p:nvPr/>
        </p:nvSpPr>
        <p:spPr>
          <a:xfrm>
            <a:off x="11488875" y="3835495"/>
            <a:ext cx="730188" cy="3652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CBB4DD5C-1D0A-6F9E-FBB4-20A67E86E0DA}"/>
              </a:ext>
            </a:extLst>
          </p:cNvPr>
          <p:cNvSpPr/>
          <p:nvPr/>
        </p:nvSpPr>
        <p:spPr>
          <a:xfrm>
            <a:off x="13165851" y="3646493"/>
            <a:ext cx="2553600" cy="7469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Extracting patterns across latitudes/orientations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箭头: V 形 236">
            <a:extLst>
              <a:ext uri="{FF2B5EF4-FFF2-40B4-BE49-F238E27FC236}">
                <a16:creationId xmlns:a16="http://schemas.microsoft.com/office/drawing/2014/main" id="{1AFE5D8D-E480-AD7C-6F1F-4F8E5D807190}"/>
              </a:ext>
            </a:extLst>
          </p:cNvPr>
          <p:cNvSpPr/>
          <p:nvPr/>
        </p:nvSpPr>
        <p:spPr>
          <a:xfrm>
            <a:off x="12615059" y="3817312"/>
            <a:ext cx="228600" cy="369230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B78229DE-A1CD-F6FA-9179-7DA43BFA4123}"/>
              </a:ext>
            </a:extLst>
          </p:cNvPr>
          <p:cNvSpPr/>
          <p:nvPr/>
        </p:nvSpPr>
        <p:spPr>
          <a:xfrm>
            <a:off x="7139340" y="6420842"/>
            <a:ext cx="3150177" cy="786947"/>
          </a:xfrm>
          <a:prstGeom prst="rect">
            <a:avLst/>
          </a:prstGeom>
          <a:solidFill>
            <a:srgbClr val="FFC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&amp; Robustness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BF812A0E-8361-F830-88CD-109DC1FD608F}"/>
              </a:ext>
            </a:extLst>
          </p:cNvPr>
          <p:cNvSpPr/>
          <p:nvPr/>
        </p:nvSpPr>
        <p:spPr>
          <a:xfrm>
            <a:off x="6527928" y="6300377"/>
            <a:ext cx="4467225" cy="4003221"/>
          </a:xfrm>
          <a:prstGeom prst="round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7727F598-4C80-B454-3971-31654780DD8D}"/>
              </a:ext>
            </a:extLst>
          </p:cNvPr>
          <p:cNvSpPr/>
          <p:nvPr/>
        </p:nvSpPr>
        <p:spPr>
          <a:xfrm>
            <a:off x="6663091" y="7414144"/>
            <a:ext cx="4084412" cy="599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analysis (latitude, orientation, design principles)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583D9C02-9DE7-428F-8C07-9E63E29EDEDD}"/>
              </a:ext>
            </a:extLst>
          </p:cNvPr>
          <p:cNvSpPr/>
          <p:nvPr/>
        </p:nvSpPr>
        <p:spPr>
          <a:xfrm>
            <a:off x="6647897" y="8376512"/>
            <a:ext cx="4084412" cy="599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 (SHGC, thermal capacity, shading parameters, etc.)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箭头: 下 242">
            <a:extLst>
              <a:ext uri="{FF2B5EF4-FFF2-40B4-BE49-F238E27FC236}">
                <a16:creationId xmlns:a16="http://schemas.microsoft.com/office/drawing/2014/main" id="{75BEB3F1-6600-926E-FE00-33C3BCF8DAE5}"/>
              </a:ext>
            </a:extLst>
          </p:cNvPr>
          <p:cNvSpPr/>
          <p:nvPr/>
        </p:nvSpPr>
        <p:spPr>
          <a:xfrm>
            <a:off x="8556753" y="8109012"/>
            <a:ext cx="285750" cy="212544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箭头: 下 243">
            <a:extLst>
              <a:ext uri="{FF2B5EF4-FFF2-40B4-BE49-F238E27FC236}">
                <a16:creationId xmlns:a16="http://schemas.microsoft.com/office/drawing/2014/main" id="{254D9C22-8DA2-0439-D172-5C23C0A26F8C}"/>
              </a:ext>
            </a:extLst>
          </p:cNvPr>
          <p:cNvSpPr/>
          <p:nvPr/>
        </p:nvSpPr>
        <p:spPr>
          <a:xfrm>
            <a:off x="8547228" y="9142528"/>
            <a:ext cx="285750" cy="212544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DC679E79-BC3D-5889-AC7B-6B1F119F6DBA}"/>
              </a:ext>
            </a:extLst>
          </p:cNvPr>
          <p:cNvSpPr/>
          <p:nvPr/>
        </p:nvSpPr>
        <p:spPr>
          <a:xfrm>
            <a:off x="7101067" y="9420609"/>
            <a:ext cx="3150177" cy="731450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conditions change, will the conclusion still hold true?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98A6C8E3-E4D7-5ACB-B0B7-872044B1D31A}"/>
              </a:ext>
            </a:extLst>
          </p:cNvPr>
          <p:cNvSpPr/>
          <p:nvPr/>
        </p:nvSpPr>
        <p:spPr>
          <a:xfrm>
            <a:off x="12197232" y="6531545"/>
            <a:ext cx="3294422" cy="440647"/>
          </a:xfrm>
          <a:prstGeom prst="rect">
            <a:avLst/>
          </a:prstGeom>
          <a:solidFill>
            <a:srgbClr val="C18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Conclusion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矩形: 圆角 247">
            <a:extLst>
              <a:ext uri="{FF2B5EF4-FFF2-40B4-BE49-F238E27FC236}">
                <a16:creationId xmlns:a16="http://schemas.microsoft.com/office/drawing/2014/main" id="{4E53C132-8BFA-3450-C1CE-FB24213F0444}"/>
              </a:ext>
            </a:extLst>
          </p:cNvPr>
          <p:cNvSpPr/>
          <p:nvPr/>
        </p:nvSpPr>
        <p:spPr>
          <a:xfrm>
            <a:off x="11401843" y="6340814"/>
            <a:ext cx="5085835" cy="4003221"/>
          </a:xfrm>
          <a:prstGeom prst="roundRect">
            <a:avLst/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49143C78-4976-BFFD-9849-683E8A6400B0}"/>
              </a:ext>
            </a:extLst>
          </p:cNvPr>
          <p:cNvSpPr/>
          <p:nvPr/>
        </p:nvSpPr>
        <p:spPr>
          <a:xfrm>
            <a:off x="11618260" y="7280893"/>
            <a:ext cx="4467224" cy="433233"/>
          </a:xfrm>
          <a:prstGeom prst="rect">
            <a:avLst/>
          </a:prstGeom>
          <a:solidFill>
            <a:srgbClr val="F6C3FF"/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(Why the model is credible and valuable)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1049DE42-AE74-371F-5162-763C37D2EB48}"/>
              </a:ext>
            </a:extLst>
          </p:cNvPr>
          <p:cNvSpPr/>
          <p:nvPr/>
        </p:nvSpPr>
        <p:spPr>
          <a:xfrm>
            <a:off x="11675087" y="8118465"/>
            <a:ext cx="4539343" cy="599145"/>
          </a:xfrm>
          <a:prstGeom prst="rect">
            <a:avLst/>
          </a:prstGeom>
          <a:solidFill>
            <a:srgbClr val="F6C3FF"/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Weaknesses (Areas that have been simplified and can be improved in the future)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箭头: 下 250">
            <a:extLst>
              <a:ext uri="{FF2B5EF4-FFF2-40B4-BE49-F238E27FC236}">
                <a16:creationId xmlns:a16="http://schemas.microsoft.com/office/drawing/2014/main" id="{A460BF8F-7704-4861-4438-55D63DC54AD4}"/>
              </a:ext>
            </a:extLst>
          </p:cNvPr>
          <p:cNvSpPr/>
          <p:nvPr/>
        </p:nvSpPr>
        <p:spPr>
          <a:xfrm>
            <a:off x="13781972" y="7839880"/>
            <a:ext cx="285750" cy="212544"/>
          </a:xfrm>
          <a:prstGeom prst="downArrow">
            <a:avLst/>
          </a:prstGeom>
          <a:solidFill>
            <a:srgbClr val="C18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箭头: 下 251">
            <a:extLst>
              <a:ext uri="{FF2B5EF4-FFF2-40B4-BE49-F238E27FC236}">
                <a16:creationId xmlns:a16="http://schemas.microsoft.com/office/drawing/2014/main" id="{EB2C0BC3-6AFA-F1C8-5343-64E8BDD4F3BC}"/>
              </a:ext>
            </a:extLst>
          </p:cNvPr>
          <p:cNvSpPr/>
          <p:nvPr/>
        </p:nvSpPr>
        <p:spPr>
          <a:xfrm>
            <a:off x="13781972" y="8803780"/>
            <a:ext cx="285750" cy="212544"/>
          </a:xfrm>
          <a:prstGeom prst="downArrow">
            <a:avLst/>
          </a:prstGeom>
          <a:solidFill>
            <a:srgbClr val="C189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8039E1A4-7B61-76B7-8AB0-742C01A1B08E}"/>
              </a:ext>
            </a:extLst>
          </p:cNvPr>
          <p:cNvSpPr/>
          <p:nvPr/>
        </p:nvSpPr>
        <p:spPr>
          <a:xfrm>
            <a:off x="11966653" y="9589680"/>
            <a:ext cx="4110502" cy="599144"/>
          </a:xfrm>
          <a:prstGeom prst="rect">
            <a:avLst/>
          </a:prstGeom>
          <a:noFill/>
          <a:ln w="28575">
            <a:solidFill>
              <a:srgbClr val="F6C3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overall strengths of this model, and where are its weaknesses?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691A7D06-3CDE-CA8C-FAE8-E61DBE4B55DB}"/>
              </a:ext>
            </a:extLst>
          </p:cNvPr>
          <p:cNvSpPr/>
          <p:nvPr/>
        </p:nvSpPr>
        <p:spPr>
          <a:xfrm>
            <a:off x="11902552" y="9072520"/>
            <a:ext cx="4084412" cy="410056"/>
          </a:xfrm>
          <a:prstGeom prst="rect">
            <a:avLst/>
          </a:prstGeom>
          <a:solidFill>
            <a:srgbClr val="F6C3FF"/>
          </a:solidFill>
          <a:ln w="28575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(A concise summary)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6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85F62-838A-41D7-FF74-4229ADD0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588092-74E9-EC22-9B32-E9714C3F9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77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193</Words>
  <Application>Microsoft Office PowerPoint</Application>
  <PresentationFormat>自定义</PresentationFormat>
  <Paragraphs>35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hongxuan han</dc:creator>
  <cp:lastModifiedBy>hongxuan han</cp:lastModifiedBy>
  <cp:revision>1</cp:revision>
  <dcterms:created xsi:type="dcterms:W3CDTF">2026-02-02T21:59:47Z</dcterms:created>
  <dcterms:modified xsi:type="dcterms:W3CDTF">2026-02-02T22:32:35Z</dcterms:modified>
</cp:coreProperties>
</file>